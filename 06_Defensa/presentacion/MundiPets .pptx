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ns Bold" charset="1" panose="020B0806030504020204"/>
      <p:regular r:id="rId18"/>
    </p:embeddedFont>
    <p:embeddedFont>
      <p:font typeface="Open Sans" charset="1" panose="020B0606030504020204"/>
      <p:regular r:id="rId19"/>
    </p:embeddedFont>
    <p:embeddedFont>
      <p:font typeface="Happy Font TH" charset="1" panose="02000503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18.png" Type="http://schemas.openxmlformats.org/officeDocument/2006/relationships/image"/><Relationship Id="rId7" Target="../embeddings/oleObject2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21749"/>
            <a:ext cx="3575243" cy="3146214"/>
          </a:xfrm>
          <a:custGeom>
            <a:avLst/>
            <a:gdLst/>
            <a:ahLst/>
            <a:cxnLst/>
            <a:rect r="r" b="b" t="t" l="l"/>
            <a:pathLst>
              <a:path h="3146214" w="3575243">
                <a:moveTo>
                  <a:pt x="0" y="0"/>
                </a:moveTo>
                <a:lnTo>
                  <a:pt x="3575243" y="0"/>
                </a:lnTo>
                <a:lnTo>
                  <a:pt x="3575243" y="3146214"/>
                </a:lnTo>
                <a:lnTo>
                  <a:pt x="0" y="3146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16221" y="2383324"/>
            <a:ext cx="15133787" cy="150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4"/>
              </a:lnSpc>
            </a:pPr>
            <a:r>
              <a:rPr lang="en-US" b="true" sz="12126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b="true" sz="12126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UNDIPETS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55867" y="4465149"/>
            <a:ext cx="11702463" cy="674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0"/>
              </a:lnSpc>
            </a:pPr>
            <a:r>
              <a:rPr lang="en-US" sz="5456" b="true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</a:t>
            </a:r>
            <a:r>
              <a:rPr lang="en-US" b="true" sz="5456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ntegrantes: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4495017" y="121749"/>
            <a:ext cx="3575243" cy="3146214"/>
          </a:xfrm>
          <a:custGeom>
            <a:avLst/>
            <a:gdLst/>
            <a:ahLst/>
            <a:cxnLst/>
            <a:rect r="r" b="b" t="t" l="l"/>
            <a:pathLst>
              <a:path h="3146214" w="3575243">
                <a:moveTo>
                  <a:pt x="3575244" y="0"/>
                </a:moveTo>
                <a:lnTo>
                  <a:pt x="0" y="0"/>
                </a:lnTo>
                <a:lnTo>
                  <a:pt x="0" y="3146214"/>
                </a:lnTo>
                <a:lnTo>
                  <a:pt x="3575244" y="3146214"/>
                </a:lnTo>
                <a:lnTo>
                  <a:pt x="35752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20061" y="5402349"/>
            <a:ext cx="5047878" cy="2403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4"/>
              </a:lnSpc>
            </a:pPr>
            <a:r>
              <a:rPr lang="en-US" sz="2499">
                <a:solidFill>
                  <a:srgbClr val="5C3100"/>
                </a:solidFill>
                <a:latin typeface="Open Sans"/>
                <a:ea typeface="Open Sans"/>
                <a:cs typeface="Open Sans"/>
                <a:sym typeface="Open Sans"/>
              </a:rPr>
              <a:t>Fuertes Arraes Edson Daniel</a:t>
            </a:r>
          </a:p>
          <a:p>
            <a:pPr algn="ctr">
              <a:lnSpc>
                <a:spcPts val="3874"/>
              </a:lnSpc>
            </a:pPr>
            <a:r>
              <a:rPr lang="en-US" sz="2499">
                <a:solidFill>
                  <a:srgbClr val="5C3100"/>
                </a:solidFill>
                <a:latin typeface="Open Sans"/>
                <a:ea typeface="Open Sans"/>
                <a:cs typeface="Open Sans"/>
                <a:sym typeface="Open Sans"/>
              </a:rPr>
              <a:t> Gutierrez Ortega Genesis Adriana</a:t>
            </a:r>
          </a:p>
          <a:p>
            <a:pPr algn="ctr">
              <a:lnSpc>
                <a:spcPts val="3874"/>
              </a:lnSpc>
            </a:pPr>
            <a:r>
              <a:rPr lang="en-US" sz="2499">
                <a:solidFill>
                  <a:srgbClr val="5C3100"/>
                </a:solidFill>
                <a:latin typeface="Open Sans"/>
                <a:ea typeface="Open Sans"/>
                <a:cs typeface="Open Sans"/>
                <a:sym typeface="Open Sans"/>
              </a:rPr>
              <a:t> Mendoza Parraga Andy Johel</a:t>
            </a:r>
          </a:p>
          <a:p>
            <a:pPr algn="ctr">
              <a:lnSpc>
                <a:spcPts val="3874"/>
              </a:lnSpc>
            </a:pPr>
            <a:r>
              <a:rPr lang="en-US" sz="2499">
                <a:solidFill>
                  <a:srgbClr val="5C3100"/>
                </a:solidFill>
                <a:latin typeface="Open Sans"/>
                <a:ea typeface="Open Sans"/>
                <a:cs typeface="Open Sans"/>
                <a:sym typeface="Open Sans"/>
              </a:rPr>
              <a:t> Morales Sanchez Gary Alejandro</a:t>
            </a:r>
          </a:p>
          <a:p>
            <a:pPr algn="ctr">
              <a:lnSpc>
                <a:spcPts val="3874"/>
              </a:lnSpc>
            </a:pPr>
            <a:r>
              <a:rPr lang="en-US" sz="2499">
                <a:solidFill>
                  <a:srgbClr val="5C3100"/>
                </a:solidFill>
                <a:latin typeface="Open Sans"/>
                <a:ea typeface="Open Sans"/>
                <a:cs typeface="Open Sans"/>
                <a:sym typeface="Open Sans"/>
              </a:rPr>
              <a:t> Nieves Sanchez Jimmy Samuel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27686" y="5017787"/>
            <a:ext cx="3918977" cy="5269213"/>
          </a:xfrm>
          <a:custGeom>
            <a:avLst/>
            <a:gdLst/>
            <a:ahLst/>
            <a:cxnLst/>
            <a:rect r="r" b="b" t="t" l="l"/>
            <a:pathLst>
              <a:path h="5269213" w="3918977">
                <a:moveTo>
                  <a:pt x="0" y="0"/>
                </a:moveTo>
                <a:lnTo>
                  <a:pt x="3918977" y="0"/>
                </a:lnTo>
                <a:lnTo>
                  <a:pt x="3918977" y="5269213"/>
                </a:lnTo>
                <a:lnTo>
                  <a:pt x="0" y="5269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22252" y="5210712"/>
            <a:ext cx="4164158" cy="4304039"/>
          </a:xfrm>
          <a:custGeom>
            <a:avLst/>
            <a:gdLst/>
            <a:ahLst/>
            <a:cxnLst/>
            <a:rect r="r" b="b" t="t" l="l"/>
            <a:pathLst>
              <a:path h="4304039" w="4164158">
                <a:moveTo>
                  <a:pt x="0" y="0"/>
                </a:moveTo>
                <a:lnTo>
                  <a:pt x="4164158" y="0"/>
                </a:lnTo>
                <a:lnTo>
                  <a:pt x="4164158" y="4304039"/>
                </a:lnTo>
                <a:lnTo>
                  <a:pt x="0" y="43040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22172" y="215477"/>
            <a:ext cx="1635222" cy="1438995"/>
          </a:xfrm>
          <a:custGeom>
            <a:avLst/>
            <a:gdLst/>
            <a:ahLst/>
            <a:cxnLst/>
            <a:rect r="r" b="b" t="t" l="l"/>
            <a:pathLst>
              <a:path h="1438995" w="1635222">
                <a:moveTo>
                  <a:pt x="0" y="0"/>
                </a:moveTo>
                <a:lnTo>
                  <a:pt x="1635221" y="0"/>
                </a:lnTo>
                <a:lnTo>
                  <a:pt x="1635221" y="1438995"/>
                </a:lnTo>
                <a:lnTo>
                  <a:pt x="0" y="143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26389" y="934975"/>
            <a:ext cx="1635222" cy="1438995"/>
          </a:xfrm>
          <a:custGeom>
            <a:avLst/>
            <a:gdLst/>
            <a:ahLst/>
            <a:cxnLst/>
            <a:rect r="r" b="b" t="t" l="l"/>
            <a:pathLst>
              <a:path h="1438995" w="1635222">
                <a:moveTo>
                  <a:pt x="0" y="0"/>
                </a:moveTo>
                <a:lnTo>
                  <a:pt x="1635222" y="0"/>
                </a:lnTo>
                <a:lnTo>
                  <a:pt x="1635222" y="1438995"/>
                </a:lnTo>
                <a:lnTo>
                  <a:pt x="0" y="143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21455" y="309202"/>
            <a:ext cx="1635222" cy="1438995"/>
          </a:xfrm>
          <a:custGeom>
            <a:avLst/>
            <a:gdLst/>
            <a:ahLst/>
            <a:cxnLst/>
            <a:rect r="r" b="b" t="t" l="l"/>
            <a:pathLst>
              <a:path h="1438995" w="1635222">
                <a:moveTo>
                  <a:pt x="0" y="0"/>
                </a:moveTo>
                <a:lnTo>
                  <a:pt x="1635222" y="0"/>
                </a:lnTo>
                <a:lnTo>
                  <a:pt x="1635222" y="1438996"/>
                </a:lnTo>
                <a:lnTo>
                  <a:pt x="0" y="1438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1469" y="508359"/>
            <a:ext cx="3136537" cy="2760153"/>
          </a:xfrm>
          <a:custGeom>
            <a:avLst/>
            <a:gdLst/>
            <a:ahLst/>
            <a:cxnLst/>
            <a:rect r="r" b="b" t="t" l="l"/>
            <a:pathLst>
              <a:path h="2760153" w="3136537">
                <a:moveTo>
                  <a:pt x="0" y="0"/>
                </a:moveTo>
                <a:lnTo>
                  <a:pt x="3136538" y="0"/>
                </a:lnTo>
                <a:lnTo>
                  <a:pt x="3136538" y="2760153"/>
                </a:lnTo>
                <a:lnTo>
                  <a:pt x="0" y="2760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751148" y="425793"/>
            <a:ext cx="3136537" cy="2760153"/>
          </a:xfrm>
          <a:custGeom>
            <a:avLst/>
            <a:gdLst/>
            <a:ahLst/>
            <a:cxnLst/>
            <a:rect r="r" b="b" t="t" l="l"/>
            <a:pathLst>
              <a:path h="2760153" w="3136537">
                <a:moveTo>
                  <a:pt x="3136537" y="0"/>
                </a:moveTo>
                <a:lnTo>
                  <a:pt x="0" y="0"/>
                </a:lnTo>
                <a:lnTo>
                  <a:pt x="0" y="2760152"/>
                </a:lnTo>
                <a:lnTo>
                  <a:pt x="3136537" y="2760152"/>
                </a:lnTo>
                <a:lnTo>
                  <a:pt x="31365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77054" y="1782878"/>
            <a:ext cx="7251137" cy="118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6"/>
              </a:lnSpc>
            </a:pPr>
            <a:r>
              <a:rPr lang="en-US" b="true" sz="9606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89971" y="4626922"/>
            <a:ext cx="9948932" cy="322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7"/>
              </a:lnSpc>
            </a:pPr>
            <a:r>
              <a:rPr lang="en-US" sz="2798">
                <a:solidFill>
                  <a:srgbClr val="5C3100"/>
                </a:solidFill>
                <a:latin typeface="Open Sans"/>
                <a:ea typeface="Open Sans"/>
                <a:cs typeface="Open Sans"/>
                <a:sym typeface="Open Sans"/>
              </a:rPr>
              <a:t>Actualmente, la información de las mascotas general y médica está dispersa en distintos medios sin un</a:t>
            </a:r>
            <a:r>
              <a:rPr lang="en-US" sz="2798">
                <a:solidFill>
                  <a:srgbClr val="5C3100"/>
                </a:solidFill>
                <a:latin typeface="Open Sans"/>
                <a:ea typeface="Open Sans"/>
                <a:cs typeface="Open Sans"/>
                <a:sym typeface="Open Sans"/>
              </a:rPr>
              <a:t> mecanismo centralizado y confiable. Esto genera registros incompletos o sin respaldo, lo que lleva a que los procesos de adopción y cruza se realicen con información insuficiente para tomar decisiones responsables.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94019" y="4159305"/>
            <a:ext cx="6454494" cy="5109798"/>
            <a:chOff x="0" y="0"/>
            <a:chExt cx="8605992" cy="68130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86468" cy="6584601"/>
            </a:xfrm>
            <a:custGeom>
              <a:avLst/>
              <a:gdLst/>
              <a:ahLst/>
              <a:cxnLst/>
              <a:rect r="r" b="b" t="t" l="l"/>
              <a:pathLst>
                <a:path h="6584601" w="7186468">
                  <a:moveTo>
                    <a:pt x="0" y="0"/>
                  </a:moveTo>
                  <a:lnTo>
                    <a:pt x="7186468" y="0"/>
                  </a:lnTo>
                  <a:lnTo>
                    <a:pt x="7186468" y="6584601"/>
                  </a:lnTo>
                  <a:lnTo>
                    <a:pt x="0" y="6584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562750" y="2077201"/>
              <a:ext cx="4043242" cy="4735862"/>
            </a:xfrm>
            <a:custGeom>
              <a:avLst/>
              <a:gdLst/>
              <a:ahLst/>
              <a:cxnLst/>
              <a:rect r="r" b="b" t="t" l="l"/>
              <a:pathLst>
                <a:path h="4735862" w="4043242">
                  <a:moveTo>
                    <a:pt x="0" y="0"/>
                  </a:moveTo>
                  <a:lnTo>
                    <a:pt x="4043242" y="0"/>
                  </a:lnTo>
                  <a:lnTo>
                    <a:pt x="4043242" y="4735862"/>
                  </a:lnTo>
                  <a:lnTo>
                    <a:pt x="0" y="4735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98560" y="579553"/>
            <a:ext cx="5521537" cy="9499418"/>
          </a:xfrm>
          <a:custGeom>
            <a:avLst/>
            <a:gdLst/>
            <a:ahLst/>
            <a:cxnLst/>
            <a:rect r="r" b="b" t="t" l="l"/>
            <a:pathLst>
              <a:path h="9499418" w="5521537">
                <a:moveTo>
                  <a:pt x="0" y="0"/>
                </a:moveTo>
                <a:lnTo>
                  <a:pt x="5521536" y="0"/>
                </a:lnTo>
                <a:lnTo>
                  <a:pt x="5521536" y="9499418"/>
                </a:lnTo>
                <a:lnTo>
                  <a:pt x="0" y="9499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878" y="611389"/>
            <a:ext cx="15099043" cy="109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6"/>
              </a:lnSpc>
            </a:pPr>
            <a:r>
              <a:rPr lang="en-US" sz="8907" b="true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</a:t>
            </a:r>
            <a:r>
              <a:rPr lang="en-US" b="true" sz="8907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EMA Y STAKEHOLDERS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36950" y="2021364"/>
            <a:ext cx="5801651" cy="1738819"/>
            <a:chOff x="0" y="0"/>
            <a:chExt cx="7735534" cy="231842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7735534" cy="2318426"/>
              <a:chOff x="0" y="0"/>
              <a:chExt cx="1498835" cy="44921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498835" cy="449218"/>
              </a:xfrm>
              <a:custGeom>
                <a:avLst/>
                <a:gdLst/>
                <a:ahLst/>
                <a:cxnLst/>
                <a:rect r="r" b="b" t="t" l="l"/>
                <a:pathLst>
                  <a:path h="449218" w="1498835">
                    <a:moveTo>
                      <a:pt x="76104" y="0"/>
                    </a:moveTo>
                    <a:lnTo>
                      <a:pt x="1422731" y="0"/>
                    </a:lnTo>
                    <a:cubicBezTo>
                      <a:pt x="1464762" y="0"/>
                      <a:pt x="1498835" y="34073"/>
                      <a:pt x="1498835" y="76104"/>
                    </a:cubicBezTo>
                    <a:lnTo>
                      <a:pt x="1498835" y="373113"/>
                    </a:lnTo>
                    <a:cubicBezTo>
                      <a:pt x="1498835" y="415144"/>
                      <a:pt x="1464762" y="449218"/>
                      <a:pt x="1422731" y="449218"/>
                    </a:cubicBezTo>
                    <a:lnTo>
                      <a:pt x="76104" y="449218"/>
                    </a:lnTo>
                    <a:cubicBezTo>
                      <a:pt x="34073" y="449218"/>
                      <a:pt x="0" y="415144"/>
                      <a:pt x="0" y="373113"/>
                    </a:cubicBezTo>
                    <a:lnTo>
                      <a:pt x="0" y="76104"/>
                    </a:lnTo>
                    <a:cubicBezTo>
                      <a:pt x="0" y="34073"/>
                      <a:pt x="34073" y="0"/>
                      <a:pt x="76104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28575"/>
                <a:ext cx="1498835" cy="477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2383604" y="223559"/>
              <a:ext cx="2600275" cy="50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Propietarios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27034"/>
              <a:ext cx="7735534" cy="1003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Publican y gestionan el perfil de su mascota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96909" y="2890774"/>
            <a:ext cx="5801651" cy="1738819"/>
            <a:chOff x="0" y="0"/>
            <a:chExt cx="7735534" cy="231842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7735534" cy="2318426"/>
              <a:chOff x="0" y="0"/>
              <a:chExt cx="1498835" cy="44921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498835" cy="449218"/>
              </a:xfrm>
              <a:custGeom>
                <a:avLst/>
                <a:gdLst/>
                <a:ahLst/>
                <a:cxnLst/>
                <a:rect r="r" b="b" t="t" l="l"/>
                <a:pathLst>
                  <a:path h="449218" w="1498835">
                    <a:moveTo>
                      <a:pt x="76104" y="0"/>
                    </a:moveTo>
                    <a:lnTo>
                      <a:pt x="1422731" y="0"/>
                    </a:lnTo>
                    <a:cubicBezTo>
                      <a:pt x="1464762" y="0"/>
                      <a:pt x="1498835" y="34073"/>
                      <a:pt x="1498835" y="76104"/>
                    </a:cubicBezTo>
                    <a:lnTo>
                      <a:pt x="1498835" y="373113"/>
                    </a:lnTo>
                    <a:cubicBezTo>
                      <a:pt x="1498835" y="415144"/>
                      <a:pt x="1464762" y="449218"/>
                      <a:pt x="1422731" y="449218"/>
                    </a:cubicBezTo>
                    <a:lnTo>
                      <a:pt x="76104" y="449218"/>
                    </a:lnTo>
                    <a:cubicBezTo>
                      <a:pt x="34073" y="449218"/>
                      <a:pt x="0" y="415144"/>
                      <a:pt x="0" y="373113"/>
                    </a:cubicBezTo>
                    <a:lnTo>
                      <a:pt x="0" y="76104"/>
                    </a:lnTo>
                    <a:cubicBezTo>
                      <a:pt x="0" y="34073"/>
                      <a:pt x="34073" y="0"/>
                      <a:pt x="76104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498835" cy="477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383604" y="223559"/>
              <a:ext cx="2600275" cy="50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Ad</a:t>
              </a: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optantes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27034"/>
              <a:ext cx="7735534" cy="1003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</a:t>
              </a: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uscan y solicitan procesos de adopción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36950" y="4776996"/>
            <a:ext cx="5801651" cy="1732246"/>
            <a:chOff x="0" y="0"/>
            <a:chExt cx="7735534" cy="230966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735534" cy="2309661"/>
              <a:chOff x="0" y="0"/>
              <a:chExt cx="1498835" cy="44751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98835" cy="447519"/>
              </a:xfrm>
              <a:custGeom>
                <a:avLst/>
                <a:gdLst/>
                <a:ahLst/>
                <a:cxnLst/>
                <a:rect r="r" b="b" t="t" l="l"/>
                <a:pathLst>
                  <a:path h="447519" w="1498835">
                    <a:moveTo>
                      <a:pt x="76104" y="0"/>
                    </a:moveTo>
                    <a:lnTo>
                      <a:pt x="1422731" y="0"/>
                    </a:lnTo>
                    <a:cubicBezTo>
                      <a:pt x="1464762" y="0"/>
                      <a:pt x="1498835" y="34073"/>
                      <a:pt x="1498835" y="76104"/>
                    </a:cubicBezTo>
                    <a:lnTo>
                      <a:pt x="1498835" y="371415"/>
                    </a:lnTo>
                    <a:cubicBezTo>
                      <a:pt x="1498835" y="413446"/>
                      <a:pt x="1464762" y="447519"/>
                      <a:pt x="1422731" y="447519"/>
                    </a:cubicBezTo>
                    <a:lnTo>
                      <a:pt x="76104" y="447519"/>
                    </a:lnTo>
                    <a:cubicBezTo>
                      <a:pt x="34073" y="447519"/>
                      <a:pt x="0" y="413446"/>
                      <a:pt x="0" y="371415"/>
                    </a:cubicBezTo>
                    <a:lnTo>
                      <a:pt x="0" y="76104"/>
                    </a:lnTo>
                    <a:cubicBezTo>
                      <a:pt x="0" y="34073"/>
                      <a:pt x="34073" y="0"/>
                      <a:pt x="76104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498835" cy="485619"/>
              </a:xfrm>
              <a:prstGeom prst="rect">
                <a:avLst/>
              </a:prstGeom>
            </p:spPr>
            <p:txBody>
              <a:bodyPr anchor="ctr" rtlCol="false" tIns="101600" lIns="101600" bIns="101600" rIns="101600"/>
              <a:lstStyle/>
              <a:p>
                <a:pPr algn="ctr">
                  <a:lnSpc>
                    <a:spcPts val="2414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589764" y="296791"/>
              <a:ext cx="4556007" cy="56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5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</a:t>
              </a: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nteresados en cruza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843656"/>
              <a:ext cx="7735534" cy="56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50"/>
                </a:lnSpc>
              </a:pP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Co</a:t>
              </a: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ordinan encuentros supervisados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68235" y="6224069"/>
            <a:ext cx="5801651" cy="1732246"/>
            <a:chOff x="0" y="0"/>
            <a:chExt cx="7735534" cy="230966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7735534" cy="2309661"/>
              <a:chOff x="0" y="0"/>
              <a:chExt cx="1498835" cy="44751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98835" cy="447519"/>
              </a:xfrm>
              <a:custGeom>
                <a:avLst/>
                <a:gdLst/>
                <a:ahLst/>
                <a:cxnLst/>
                <a:rect r="r" b="b" t="t" l="l"/>
                <a:pathLst>
                  <a:path h="447519" w="1498835">
                    <a:moveTo>
                      <a:pt x="76104" y="0"/>
                    </a:moveTo>
                    <a:lnTo>
                      <a:pt x="1422731" y="0"/>
                    </a:lnTo>
                    <a:cubicBezTo>
                      <a:pt x="1464762" y="0"/>
                      <a:pt x="1498835" y="34073"/>
                      <a:pt x="1498835" y="76104"/>
                    </a:cubicBezTo>
                    <a:lnTo>
                      <a:pt x="1498835" y="371415"/>
                    </a:lnTo>
                    <a:cubicBezTo>
                      <a:pt x="1498835" y="413446"/>
                      <a:pt x="1464762" y="447519"/>
                      <a:pt x="1422731" y="447519"/>
                    </a:cubicBezTo>
                    <a:lnTo>
                      <a:pt x="76104" y="447519"/>
                    </a:lnTo>
                    <a:cubicBezTo>
                      <a:pt x="34073" y="447519"/>
                      <a:pt x="0" y="413446"/>
                      <a:pt x="0" y="371415"/>
                    </a:cubicBezTo>
                    <a:lnTo>
                      <a:pt x="0" y="76104"/>
                    </a:lnTo>
                    <a:cubicBezTo>
                      <a:pt x="0" y="34073"/>
                      <a:pt x="34073" y="0"/>
                      <a:pt x="76104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498835" cy="485619"/>
              </a:xfrm>
              <a:prstGeom prst="rect">
                <a:avLst/>
              </a:prstGeom>
            </p:spPr>
            <p:txBody>
              <a:bodyPr anchor="ctr" rtlCol="false" tIns="101600" lIns="101600" bIns="101600" rIns="101600"/>
              <a:lstStyle/>
              <a:p>
                <a:pPr algn="ctr">
                  <a:lnSpc>
                    <a:spcPts val="2414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589764" y="296791"/>
              <a:ext cx="4556007" cy="56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5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</a:t>
              </a: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efugios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843656"/>
              <a:ext cx="7735534" cy="56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50"/>
                </a:lnSpc>
              </a:pP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Publ</a:t>
              </a: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ican animales bajo su cuidado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95135" y="7780299"/>
            <a:ext cx="5801651" cy="1732246"/>
            <a:chOff x="0" y="0"/>
            <a:chExt cx="7735534" cy="2309661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7735534" cy="2309661"/>
              <a:chOff x="0" y="0"/>
              <a:chExt cx="1498835" cy="44751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498835" cy="447519"/>
              </a:xfrm>
              <a:custGeom>
                <a:avLst/>
                <a:gdLst/>
                <a:ahLst/>
                <a:cxnLst/>
                <a:rect r="r" b="b" t="t" l="l"/>
                <a:pathLst>
                  <a:path h="447519" w="1498835">
                    <a:moveTo>
                      <a:pt x="76104" y="0"/>
                    </a:moveTo>
                    <a:lnTo>
                      <a:pt x="1422731" y="0"/>
                    </a:lnTo>
                    <a:cubicBezTo>
                      <a:pt x="1464762" y="0"/>
                      <a:pt x="1498835" y="34073"/>
                      <a:pt x="1498835" y="76104"/>
                    </a:cubicBezTo>
                    <a:lnTo>
                      <a:pt x="1498835" y="371415"/>
                    </a:lnTo>
                    <a:cubicBezTo>
                      <a:pt x="1498835" y="413446"/>
                      <a:pt x="1464762" y="447519"/>
                      <a:pt x="1422731" y="447519"/>
                    </a:cubicBezTo>
                    <a:lnTo>
                      <a:pt x="76104" y="447519"/>
                    </a:lnTo>
                    <a:cubicBezTo>
                      <a:pt x="34073" y="447519"/>
                      <a:pt x="0" y="413446"/>
                      <a:pt x="0" y="371415"/>
                    </a:cubicBezTo>
                    <a:lnTo>
                      <a:pt x="0" y="76104"/>
                    </a:lnTo>
                    <a:cubicBezTo>
                      <a:pt x="0" y="34073"/>
                      <a:pt x="34073" y="0"/>
                      <a:pt x="76104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498835" cy="485619"/>
              </a:xfrm>
              <a:prstGeom prst="rect">
                <a:avLst/>
              </a:prstGeom>
            </p:spPr>
            <p:txBody>
              <a:bodyPr anchor="ctr" rtlCol="false" tIns="101600" lIns="101600" bIns="101600" rIns="101600"/>
              <a:lstStyle/>
              <a:p>
                <a:pPr algn="ctr">
                  <a:lnSpc>
                    <a:spcPts val="2414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589764" y="296791"/>
              <a:ext cx="4556007" cy="56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5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Clinica Veterinaria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843656"/>
              <a:ext cx="7735534" cy="56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50"/>
                </a:lnSpc>
              </a:pP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Val</a:t>
              </a: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idan estado sanitario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2694"/>
            <a:ext cx="4876249" cy="8389245"/>
          </a:xfrm>
          <a:custGeom>
            <a:avLst/>
            <a:gdLst/>
            <a:ahLst/>
            <a:cxnLst/>
            <a:rect r="r" b="b" t="t" l="l"/>
            <a:pathLst>
              <a:path h="8389245" w="4876249">
                <a:moveTo>
                  <a:pt x="4876249" y="0"/>
                </a:moveTo>
                <a:lnTo>
                  <a:pt x="0" y="0"/>
                </a:lnTo>
                <a:lnTo>
                  <a:pt x="0" y="8389245"/>
                </a:lnTo>
                <a:lnTo>
                  <a:pt x="4876249" y="8389245"/>
                </a:lnTo>
                <a:lnTo>
                  <a:pt x="487624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7849" y="5722787"/>
            <a:ext cx="1241702" cy="1491127"/>
          </a:xfrm>
          <a:custGeom>
            <a:avLst/>
            <a:gdLst/>
            <a:ahLst/>
            <a:cxnLst/>
            <a:rect r="r" b="b" t="t" l="l"/>
            <a:pathLst>
              <a:path h="1491127" w="1241702">
                <a:moveTo>
                  <a:pt x="0" y="0"/>
                </a:moveTo>
                <a:lnTo>
                  <a:pt x="1241702" y="0"/>
                </a:lnTo>
                <a:lnTo>
                  <a:pt x="1241702" y="1491127"/>
                </a:lnTo>
                <a:lnTo>
                  <a:pt x="0" y="1491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7849" y="8423589"/>
            <a:ext cx="1241702" cy="1491127"/>
          </a:xfrm>
          <a:custGeom>
            <a:avLst/>
            <a:gdLst/>
            <a:ahLst/>
            <a:cxnLst/>
            <a:rect r="r" b="b" t="t" l="l"/>
            <a:pathLst>
              <a:path h="1491127" w="1241702">
                <a:moveTo>
                  <a:pt x="0" y="0"/>
                </a:moveTo>
                <a:lnTo>
                  <a:pt x="1241702" y="0"/>
                </a:lnTo>
                <a:lnTo>
                  <a:pt x="1241702" y="1491127"/>
                </a:lnTo>
                <a:lnTo>
                  <a:pt x="0" y="1491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544432">
            <a:off x="6212140" y="3318161"/>
            <a:ext cx="1412179" cy="2521748"/>
          </a:xfrm>
          <a:custGeom>
            <a:avLst/>
            <a:gdLst/>
            <a:ahLst/>
            <a:cxnLst/>
            <a:rect r="r" b="b" t="t" l="l"/>
            <a:pathLst>
              <a:path h="2521748" w="1412179">
                <a:moveTo>
                  <a:pt x="0" y="0"/>
                </a:moveTo>
                <a:lnTo>
                  <a:pt x="1412179" y="0"/>
                </a:lnTo>
                <a:lnTo>
                  <a:pt x="1412179" y="2521748"/>
                </a:lnTo>
                <a:lnTo>
                  <a:pt x="0" y="25217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71780" y="453619"/>
            <a:ext cx="12171780" cy="1739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6"/>
              </a:lnSpc>
            </a:pPr>
            <a:r>
              <a:rPr lang="en-US" sz="7407" b="true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PROCES</a:t>
            </a:r>
            <a:r>
              <a:rPr lang="en-US" b="true" sz="7407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DE INGENIERÍA DE REQUISITOS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08093" y="2726716"/>
            <a:ext cx="3903948" cy="91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1"/>
              </a:lnSpc>
            </a:pPr>
            <a:r>
              <a:rPr lang="en-US" sz="2599" b="true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PE1</a:t>
            </a:r>
          </a:p>
          <a:p>
            <a:pPr algn="ctr">
              <a:lnSpc>
                <a:spcPts val="3691"/>
              </a:lnSpc>
              <a:spcBef>
                <a:spcPct val="0"/>
              </a:spcBef>
            </a:pPr>
            <a:r>
              <a:rPr lang="en-US" sz="2599">
                <a:solidFill>
                  <a:srgbClr val="5C31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99">
                <a:solidFill>
                  <a:srgbClr val="5C3100"/>
                </a:solidFill>
                <a:latin typeface="Open Sans"/>
                <a:ea typeface="Open Sans"/>
                <a:cs typeface="Open Sans"/>
                <a:sym typeface="Open Sans"/>
              </a:rPr>
              <a:t>Fundamentos y contexto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86676" y="3945456"/>
            <a:ext cx="2207307" cy="91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1"/>
              </a:lnSpc>
            </a:pPr>
            <a:r>
              <a:rPr lang="en-US" sz="2599" b="true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PE2</a:t>
            </a:r>
          </a:p>
          <a:p>
            <a:pPr algn="ctr">
              <a:lnSpc>
                <a:spcPts val="3691"/>
              </a:lnSpc>
              <a:spcBef>
                <a:spcPct val="0"/>
              </a:spcBef>
            </a:pPr>
            <a:r>
              <a:rPr lang="en-US" sz="2599">
                <a:solidFill>
                  <a:srgbClr val="5C3100"/>
                </a:solidFill>
                <a:latin typeface="Open Sans"/>
                <a:ea typeface="Open Sans"/>
                <a:cs typeface="Open Sans"/>
                <a:sym typeface="Open Sans"/>
              </a:rPr>
              <a:t>Elici</a:t>
            </a:r>
            <a:r>
              <a:rPr lang="en-US" sz="2599">
                <a:solidFill>
                  <a:srgbClr val="5C3100"/>
                </a:solidFill>
                <a:latin typeface="Open Sans"/>
                <a:ea typeface="Open Sans"/>
                <a:cs typeface="Open Sans"/>
                <a:sym typeface="Open Sans"/>
              </a:rPr>
              <a:t>tación real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4757" y="5086350"/>
            <a:ext cx="5572773" cy="91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1"/>
              </a:lnSpc>
            </a:pPr>
            <a:r>
              <a:rPr lang="en-US" sz="2599" b="true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PE3</a:t>
            </a:r>
          </a:p>
          <a:p>
            <a:pPr algn="ctr">
              <a:lnSpc>
                <a:spcPts val="3691"/>
              </a:lnSpc>
              <a:spcBef>
                <a:spcPct val="0"/>
              </a:spcBef>
            </a:pPr>
            <a:r>
              <a:rPr lang="en-US" sz="2599">
                <a:solidFill>
                  <a:srgbClr val="5C3100"/>
                </a:solidFill>
                <a:latin typeface="Open Sans"/>
                <a:ea typeface="Open Sans"/>
                <a:cs typeface="Open Sans"/>
                <a:sym typeface="Open Sans"/>
              </a:rPr>
              <a:t>Especific</a:t>
            </a:r>
            <a:r>
              <a:rPr lang="en-US" sz="2599">
                <a:solidFill>
                  <a:srgbClr val="5C3100"/>
                </a:solidFill>
                <a:latin typeface="Open Sans"/>
                <a:ea typeface="Open Sans"/>
                <a:cs typeface="Open Sans"/>
                <a:sym typeface="Open Sans"/>
              </a:rPr>
              <a:t>ación y   modelado inicial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17967" y="6460570"/>
            <a:ext cx="6068467" cy="91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1"/>
              </a:lnSpc>
            </a:pPr>
            <a:r>
              <a:rPr lang="en-US" sz="2599" b="true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PE4</a:t>
            </a:r>
          </a:p>
          <a:p>
            <a:pPr algn="ctr">
              <a:lnSpc>
                <a:spcPts val="3691"/>
              </a:lnSpc>
              <a:spcBef>
                <a:spcPct val="0"/>
              </a:spcBef>
            </a:pPr>
            <a:r>
              <a:rPr lang="en-US" sz="2599">
                <a:solidFill>
                  <a:srgbClr val="5C3100"/>
                </a:solidFill>
                <a:latin typeface="Open Sans"/>
                <a:ea typeface="Open Sans"/>
                <a:cs typeface="Open Sans"/>
                <a:sym typeface="Open Sans"/>
              </a:rPr>
              <a:t>Inspección Fagan + gestión de cambios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28613" y="7873507"/>
            <a:ext cx="3230687" cy="138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1"/>
              </a:lnSpc>
            </a:pPr>
            <a:r>
              <a:rPr lang="en-US" sz="2599" b="true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PE5</a:t>
            </a:r>
          </a:p>
          <a:p>
            <a:pPr algn="ctr">
              <a:lnSpc>
                <a:spcPts val="3691"/>
              </a:lnSpc>
            </a:pPr>
            <a:r>
              <a:rPr lang="en-US" sz="2599">
                <a:solidFill>
                  <a:srgbClr val="5C3100"/>
                </a:solidFill>
                <a:latin typeface="Open Sans"/>
                <a:ea typeface="Open Sans"/>
                <a:cs typeface="Open Sans"/>
                <a:sym typeface="Open Sans"/>
              </a:rPr>
              <a:t>Integración, métricas</a:t>
            </a:r>
          </a:p>
          <a:p>
            <a:pPr algn="ctr">
              <a:lnSpc>
                <a:spcPts val="3691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-4544432">
            <a:off x="8196134" y="4995168"/>
            <a:ext cx="1222626" cy="2183261"/>
          </a:xfrm>
          <a:custGeom>
            <a:avLst/>
            <a:gdLst/>
            <a:ahLst/>
            <a:cxnLst/>
            <a:rect r="r" b="b" t="t" l="l"/>
            <a:pathLst>
              <a:path h="2183261" w="1222626">
                <a:moveTo>
                  <a:pt x="0" y="0"/>
                </a:moveTo>
                <a:lnTo>
                  <a:pt x="1222627" y="0"/>
                </a:lnTo>
                <a:lnTo>
                  <a:pt x="1222627" y="2183261"/>
                </a:lnTo>
                <a:lnTo>
                  <a:pt x="0" y="2183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4544432">
            <a:off x="9460722" y="6579977"/>
            <a:ext cx="1261132" cy="2252022"/>
          </a:xfrm>
          <a:custGeom>
            <a:avLst/>
            <a:gdLst/>
            <a:ahLst/>
            <a:cxnLst/>
            <a:rect r="r" b="b" t="t" l="l"/>
            <a:pathLst>
              <a:path h="2252022" w="1261132">
                <a:moveTo>
                  <a:pt x="0" y="0"/>
                </a:moveTo>
                <a:lnTo>
                  <a:pt x="1261133" y="0"/>
                </a:lnTo>
                <a:lnTo>
                  <a:pt x="1261133" y="2252022"/>
                </a:lnTo>
                <a:lnTo>
                  <a:pt x="0" y="2252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4544432">
            <a:off x="12151411" y="7693136"/>
            <a:ext cx="1261132" cy="2252022"/>
          </a:xfrm>
          <a:custGeom>
            <a:avLst/>
            <a:gdLst/>
            <a:ahLst/>
            <a:cxnLst/>
            <a:rect r="r" b="b" t="t" l="l"/>
            <a:pathLst>
              <a:path h="2252022" w="1261132">
                <a:moveTo>
                  <a:pt x="0" y="0"/>
                </a:moveTo>
                <a:lnTo>
                  <a:pt x="1261133" y="0"/>
                </a:lnTo>
                <a:lnTo>
                  <a:pt x="1261133" y="2252022"/>
                </a:lnTo>
                <a:lnTo>
                  <a:pt x="0" y="2252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151463" y="324914"/>
            <a:ext cx="3136537" cy="2760153"/>
          </a:xfrm>
          <a:custGeom>
            <a:avLst/>
            <a:gdLst/>
            <a:ahLst/>
            <a:cxnLst/>
            <a:rect r="r" b="b" t="t" l="l"/>
            <a:pathLst>
              <a:path h="2760153" w="3136537">
                <a:moveTo>
                  <a:pt x="3136537" y="0"/>
                </a:moveTo>
                <a:lnTo>
                  <a:pt x="0" y="0"/>
                </a:lnTo>
                <a:lnTo>
                  <a:pt x="0" y="2760153"/>
                </a:lnTo>
                <a:lnTo>
                  <a:pt x="3136537" y="2760153"/>
                </a:lnTo>
                <a:lnTo>
                  <a:pt x="31365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756483" y="6727643"/>
          <a:ext cx="16230600" cy="4495918"/>
        </p:xfrm>
        <a:graphic>
          <a:graphicData uri="http://schemas.openxmlformats.org/presentationml/2006/ole">
            <p:oleObj imgW="19469100" imgH="77343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4" id="4"/>
          <p:cNvGraphicFramePr/>
          <p:nvPr/>
        </p:nvGraphicFramePr>
        <p:xfrm>
          <a:off x="776040" y="3286684"/>
          <a:ext cx="8086725" cy="3154680"/>
        </p:xfrm>
        <a:graphic>
          <a:graphicData uri="http://schemas.openxmlformats.org/presentationml/2006/ole">
            <p:oleObj imgW="9702800" imgH="47625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217273" y="308647"/>
            <a:ext cx="14786126" cy="162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6800" b="true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ERS: ESTRUCTURA Y REQUISIT</a:t>
            </a:r>
            <a:r>
              <a:rPr lang="en-US" b="true" sz="6800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OS CLAVE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5400" y="2609381"/>
            <a:ext cx="8885783" cy="40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7"/>
              </a:lnSpc>
              <a:spcBef>
                <a:spcPct val="0"/>
              </a:spcBef>
            </a:pPr>
            <a:r>
              <a:rPr lang="en-US" b="true" sz="2399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Estructura — correspondencia con ISO/IEC/IEEE 29148:2018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5400" y="6054162"/>
            <a:ext cx="7892914" cy="40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7"/>
              </a:lnSpc>
              <a:spcBef>
                <a:spcPct val="0"/>
              </a:spcBef>
            </a:pPr>
            <a:r>
              <a:rPr lang="en-US" b="true" sz="2399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Requisitos clave — trazabilidad de cambio completa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93360" y="376275"/>
            <a:ext cx="5979319" cy="10287000"/>
          </a:xfrm>
          <a:custGeom>
            <a:avLst/>
            <a:gdLst/>
            <a:ahLst/>
            <a:cxnLst/>
            <a:rect r="r" b="b" t="t" l="l"/>
            <a:pathLst>
              <a:path h="10287000" w="5979319">
                <a:moveTo>
                  <a:pt x="5979319" y="0"/>
                </a:moveTo>
                <a:lnTo>
                  <a:pt x="0" y="0"/>
                </a:lnTo>
                <a:lnTo>
                  <a:pt x="0" y="10287000"/>
                </a:lnTo>
                <a:lnTo>
                  <a:pt x="5979319" y="10287000"/>
                </a:lnTo>
                <a:lnTo>
                  <a:pt x="597931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7746" y="576300"/>
            <a:ext cx="15998680" cy="1647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6999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b="true" sz="6999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ODELOS UML Y COBERTURA DE TRAZABILIDAD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60084" y="2508102"/>
            <a:ext cx="13199216" cy="131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  <a:spcBef>
                <a:spcPct val="0"/>
              </a:spcBef>
            </a:pPr>
            <a:r>
              <a:rPr lang="en-US" b="true" sz="2999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Revisamos que todo lo que pedimos para MundiPets esté reflejado en el diseño, y que nada de lo diseñado esté ahí sin haber sido pedido.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255318" y="4501177"/>
            <a:ext cx="7170663" cy="1284645"/>
            <a:chOff x="0" y="0"/>
            <a:chExt cx="9560884" cy="171286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560884" cy="1712860"/>
              <a:chOff x="0" y="0"/>
              <a:chExt cx="1852514" cy="33188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852514" cy="331883"/>
              </a:xfrm>
              <a:custGeom>
                <a:avLst/>
                <a:gdLst/>
                <a:ahLst/>
                <a:cxnLst/>
                <a:rect r="r" b="b" t="t" l="l"/>
                <a:pathLst>
                  <a:path h="331883" w="1852514">
                    <a:moveTo>
                      <a:pt x="61575" y="0"/>
                    </a:moveTo>
                    <a:lnTo>
                      <a:pt x="1790940" y="0"/>
                    </a:lnTo>
                    <a:cubicBezTo>
                      <a:pt x="1824946" y="0"/>
                      <a:pt x="1852514" y="27568"/>
                      <a:pt x="1852514" y="61575"/>
                    </a:cubicBezTo>
                    <a:lnTo>
                      <a:pt x="1852514" y="270309"/>
                    </a:lnTo>
                    <a:cubicBezTo>
                      <a:pt x="1852514" y="304315"/>
                      <a:pt x="1824946" y="331883"/>
                      <a:pt x="1790940" y="331883"/>
                    </a:cubicBezTo>
                    <a:lnTo>
                      <a:pt x="61575" y="331883"/>
                    </a:lnTo>
                    <a:cubicBezTo>
                      <a:pt x="27568" y="331883"/>
                      <a:pt x="0" y="304315"/>
                      <a:pt x="0" y="270309"/>
                    </a:cubicBezTo>
                    <a:lnTo>
                      <a:pt x="0" y="61575"/>
                    </a:lnTo>
                    <a:cubicBezTo>
                      <a:pt x="0" y="27568"/>
                      <a:pt x="27568" y="0"/>
                      <a:pt x="61575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852514" cy="369983"/>
              </a:xfrm>
              <a:prstGeom prst="rect">
                <a:avLst/>
              </a:prstGeom>
            </p:spPr>
            <p:txBody>
              <a:bodyPr anchor="ctr" rtlCol="false" tIns="101600" lIns="101600" bIns="101600" rIns="101600"/>
              <a:lstStyle/>
              <a:p>
                <a:pPr algn="ctr">
                  <a:lnSpc>
                    <a:spcPts val="2414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547447"/>
              <a:ext cx="9560884" cy="56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5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100% → </a:t>
              </a: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todo</a:t>
              </a: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lo pedido quedó bien diseñado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15840" y="6296735"/>
            <a:ext cx="7385793" cy="1284645"/>
            <a:chOff x="0" y="0"/>
            <a:chExt cx="9847724" cy="171286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286841" y="0"/>
              <a:ext cx="9560884" cy="1712860"/>
              <a:chOff x="0" y="0"/>
              <a:chExt cx="1852514" cy="33188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852514" cy="331883"/>
              </a:xfrm>
              <a:custGeom>
                <a:avLst/>
                <a:gdLst/>
                <a:ahLst/>
                <a:cxnLst/>
                <a:rect r="r" b="b" t="t" l="l"/>
                <a:pathLst>
                  <a:path h="331883" w="1852514">
                    <a:moveTo>
                      <a:pt x="61575" y="0"/>
                    </a:moveTo>
                    <a:lnTo>
                      <a:pt x="1790940" y="0"/>
                    </a:lnTo>
                    <a:cubicBezTo>
                      <a:pt x="1824946" y="0"/>
                      <a:pt x="1852514" y="27568"/>
                      <a:pt x="1852514" y="61575"/>
                    </a:cubicBezTo>
                    <a:lnTo>
                      <a:pt x="1852514" y="270309"/>
                    </a:lnTo>
                    <a:cubicBezTo>
                      <a:pt x="1852514" y="304315"/>
                      <a:pt x="1824946" y="331883"/>
                      <a:pt x="1790940" y="331883"/>
                    </a:cubicBezTo>
                    <a:lnTo>
                      <a:pt x="61575" y="331883"/>
                    </a:lnTo>
                    <a:cubicBezTo>
                      <a:pt x="27568" y="331883"/>
                      <a:pt x="0" y="304315"/>
                      <a:pt x="0" y="270309"/>
                    </a:cubicBezTo>
                    <a:lnTo>
                      <a:pt x="0" y="61575"/>
                    </a:lnTo>
                    <a:cubicBezTo>
                      <a:pt x="0" y="27568"/>
                      <a:pt x="27568" y="0"/>
                      <a:pt x="61575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852514" cy="369983"/>
              </a:xfrm>
              <a:prstGeom prst="rect">
                <a:avLst/>
              </a:prstGeom>
            </p:spPr>
            <p:txBody>
              <a:bodyPr anchor="ctr" rtlCol="false" tIns="101600" lIns="101600" bIns="101600" rIns="101600"/>
              <a:lstStyle/>
              <a:p>
                <a:pPr algn="ctr">
                  <a:lnSpc>
                    <a:spcPts val="2414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547447"/>
              <a:ext cx="9560884" cy="56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55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 → nada</a:t>
              </a: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quedó "pedido pero sin diseñar"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947238" y="7973655"/>
            <a:ext cx="9341525" cy="1284645"/>
            <a:chOff x="0" y="0"/>
            <a:chExt cx="12455366" cy="171286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443299" y="0"/>
              <a:ext cx="12012067" cy="1712860"/>
              <a:chOff x="0" y="0"/>
              <a:chExt cx="2327455" cy="33188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327455" cy="331883"/>
              </a:xfrm>
              <a:custGeom>
                <a:avLst/>
                <a:gdLst/>
                <a:ahLst/>
                <a:cxnLst/>
                <a:rect r="r" b="b" t="t" l="l"/>
                <a:pathLst>
                  <a:path h="331883" w="2327455">
                    <a:moveTo>
                      <a:pt x="49010" y="0"/>
                    </a:moveTo>
                    <a:lnTo>
                      <a:pt x="2278445" y="0"/>
                    </a:lnTo>
                    <a:cubicBezTo>
                      <a:pt x="2291443" y="0"/>
                      <a:pt x="2303909" y="5164"/>
                      <a:pt x="2313100" y="14355"/>
                    </a:cubicBezTo>
                    <a:cubicBezTo>
                      <a:pt x="2322291" y="23546"/>
                      <a:pt x="2327455" y="36012"/>
                      <a:pt x="2327455" y="49010"/>
                    </a:cubicBezTo>
                    <a:lnTo>
                      <a:pt x="2327455" y="282874"/>
                    </a:lnTo>
                    <a:cubicBezTo>
                      <a:pt x="2327455" y="295872"/>
                      <a:pt x="2322291" y="308338"/>
                      <a:pt x="2313100" y="317529"/>
                    </a:cubicBezTo>
                    <a:cubicBezTo>
                      <a:pt x="2303909" y="326720"/>
                      <a:pt x="2291443" y="331883"/>
                      <a:pt x="2278445" y="331883"/>
                    </a:cubicBezTo>
                    <a:lnTo>
                      <a:pt x="49010" y="331883"/>
                    </a:lnTo>
                    <a:cubicBezTo>
                      <a:pt x="36012" y="331883"/>
                      <a:pt x="23546" y="326720"/>
                      <a:pt x="14355" y="317529"/>
                    </a:cubicBezTo>
                    <a:cubicBezTo>
                      <a:pt x="5164" y="308338"/>
                      <a:pt x="0" y="295872"/>
                      <a:pt x="0" y="282874"/>
                    </a:cubicBezTo>
                    <a:lnTo>
                      <a:pt x="0" y="49010"/>
                    </a:lnTo>
                    <a:cubicBezTo>
                      <a:pt x="0" y="36012"/>
                      <a:pt x="5164" y="23546"/>
                      <a:pt x="14355" y="14355"/>
                    </a:cubicBezTo>
                    <a:cubicBezTo>
                      <a:pt x="23546" y="5164"/>
                      <a:pt x="36012" y="0"/>
                      <a:pt x="49010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327455" cy="369983"/>
              </a:xfrm>
              <a:prstGeom prst="rect">
                <a:avLst/>
              </a:prstGeom>
            </p:spPr>
            <p:txBody>
              <a:bodyPr anchor="ctr" rtlCol="false" tIns="101600" lIns="101600" bIns="101600" rIns="101600"/>
              <a:lstStyle/>
              <a:p>
                <a:pPr algn="ctr">
                  <a:lnSpc>
                    <a:spcPts val="2414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249046"/>
              <a:ext cx="11438386" cy="1157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55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100% → lo</a:t>
              </a: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que el equipo anotó en su tablero de trabajo coincide con lo que pide el documento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6781" y="175884"/>
            <a:ext cx="1921480" cy="1690902"/>
          </a:xfrm>
          <a:custGeom>
            <a:avLst/>
            <a:gdLst/>
            <a:ahLst/>
            <a:cxnLst/>
            <a:rect r="r" b="b" t="t" l="l"/>
            <a:pathLst>
              <a:path h="1690902" w="1921480">
                <a:moveTo>
                  <a:pt x="0" y="0"/>
                </a:moveTo>
                <a:lnTo>
                  <a:pt x="1921480" y="0"/>
                </a:lnTo>
                <a:lnTo>
                  <a:pt x="1921480" y="1690902"/>
                </a:lnTo>
                <a:lnTo>
                  <a:pt x="0" y="169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735625" y="175884"/>
            <a:ext cx="2552375" cy="2246090"/>
          </a:xfrm>
          <a:custGeom>
            <a:avLst/>
            <a:gdLst/>
            <a:ahLst/>
            <a:cxnLst/>
            <a:rect r="r" b="b" t="t" l="l"/>
            <a:pathLst>
              <a:path h="2246090" w="2552375">
                <a:moveTo>
                  <a:pt x="2552375" y="0"/>
                </a:moveTo>
                <a:lnTo>
                  <a:pt x="0" y="0"/>
                </a:lnTo>
                <a:lnTo>
                  <a:pt x="0" y="2246090"/>
                </a:lnTo>
                <a:lnTo>
                  <a:pt x="2552375" y="2246090"/>
                </a:lnTo>
                <a:lnTo>
                  <a:pt x="25523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3304" y="2780454"/>
            <a:ext cx="5906309" cy="5957158"/>
          </a:xfrm>
          <a:custGeom>
            <a:avLst/>
            <a:gdLst/>
            <a:ahLst/>
            <a:cxnLst/>
            <a:rect r="r" b="b" t="t" l="l"/>
            <a:pathLst>
              <a:path h="5957158" w="5906309">
                <a:moveTo>
                  <a:pt x="0" y="0"/>
                </a:moveTo>
                <a:lnTo>
                  <a:pt x="5906309" y="0"/>
                </a:lnTo>
                <a:lnTo>
                  <a:pt x="5906309" y="5957159"/>
                </a:lnTo>
                <a:lnTo>
                  <a:pt x="0" y="59571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824" t="-17880" r="-28403" b="-1833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21288" y="3189261"/>
            <a:ext cx="985630" cy="985630"/>
          </a:xfrm>
          <a:custGeom>
            <a:avLst/>
            <a:gdLst/>
            <a:ahLst/>
            <a:cxnLst/>
            <a:rect r="r" b="b" t="t" l="l"/>
            <a:pathLst>
              <a:path h="985630" w="985630">
                <a:moveTo>
                  <a:pt x="0" y="0"/>
                </a:moveTo>
                <a:lnTo>
                  <a:pt x="985629" y="0"/>
                </a:lnTo>
                <a:lnTo>
                  <a:pt x="985629" y="985630"/>
                </a:lnTo>
                <a:lnTo>
                  <a:pt x="0" y="9856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28261" y="681343"/>
            <a:ext cx="13710474" cy="2234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6399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</a:t>
            </a:r>
            <a:r>
              <a:rPr lang="en-US" b="true" sz="6399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IDACIÓN: RESULTADOS DE LA INSPECCIÓN</a:t>
            </a:r>
          </a:p>
          <a:p>
            <a:pPr algn="ctr">
              <a:lnSpc>
                <a:spcPts val="57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475008" y="3427867"/>
            <a:ext cx="8800765" cy="45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1"/>
              </a:lnSpc>
              <a:spcBef>
                <a:spcPct val="0"/>
              </a:spcBef>
            </a:pPr>
            <a:r>
              <a:rPr lang="en-US" b="true" sz="2599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defecto compromete algo fundamental del sistema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321288" y="4773404"/>
            <a:ext cx="985630" cy="985630"/>
          </a:xfrm>
          <a:custGeom>
            <a:avLst/>
            <a:gdLst/>
            <a:ahLst/>
            <a:cxnLst/>
            <a:rect r="r" b="b" t="t" l="l"/>
            <a:pathLst>
              <a:path h="985630" w="985630">
                <a:moveTo>
                  <a:pt x="0" y="0"/>
                </a:moveTo>
                <a:lnTo>
                  <a:pt x="985629" y="0"/>
                </a:lnTo>
                <a:lnTo>
                  <a:pt x="985629" y="985630"/>
                </a:lnTo>
                <a:lnTo>
                  <a:pt x="0" y="9856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80031" y="5012009"/>
            <a:ext cx="9165766" cy="45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1"/>
              </a:lnSpc>
              <a:spcBef>
                <a:spcPct val="0"/>
              </a:spcBef>
            </a:pPr>
            <a:r>
              <a:rPr lang="en-US" b="true" sz="2599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b="true" sz="2599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rrores de redacción, numeración, referencias cruzadas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80031" y="6786350"/>
            <a:ext cx="9315138" cy="91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1"/>
              </a:lnSpc>
              <a:spcBef>
                <a:spcPct val="0"/>
              </a:spcBef>
            </a:pPr>
            <a:r>
              <a:rPr lang="en-US" b="true" sz="2599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defecto afecta la calidad o la verificabilidad de un requisito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494401" y="6718752"/>
            <a:ext cx="985630" cy="985630"/>
          </a:xfrm>
          <a:custGeom>
            <a:avLst/>
            <a:gdLst/>
            <a:ahLst/>
            <a:cxnLst/>
            <a:rect r="r" b="b" t="t" l="l"/>
            <a:pathLst>
              <a:path h="985630" w="985630">
                <a:moveTo>
                  <a:pt x="0" y="0"/>
                </a:moveTo>
                <a:lnTo>
                  <a:pt x="985630" y="0"/>
                </a:lnTo>
                <a:lnTo>
                  <a:pt x="985630" y="985629"/>
                </a:lnTo>
                <a:lnTo>
                  <a:pt x="0" y="9856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419169" y="331817"/>
            <a:ext cx="2450091" cy="2156080"/>
          </a:xfrm>
          <a:custGeom>
            <a:avLst/>
            <a:gdLst/>
            <a:ahLst/>
            <a:cxnLst/>
            <a:rect r="r" b="b" t="t" l="l"/>
            <a:pathLst>
              <a:path h="2156080" w="2450091">
                <a:moveTo>
                  <a:pt x="2450091" y="0"/>
                </a:moveTo>
                <a:lnTo>
                  <a:pt x="0" y="0"/>
                </a:lnTo>
                <a:lnTo>
                  <a:pt x="0" y="2156081"/>
                </a:lnTo>
                <a:lnTo>
                  <a:pt x="2450091" y="2156081"/>
                </a:lnTo>
                <a:lnTo>
                  <a:pt x="245009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0937" y="4669691"/>
            <a:ext cx="10652218" cy="5475387"/>
          </a:xfrm>
          <a:custGeom>
            <a:avLst/>
            <a:gdLst/>
            <a:ahLst/>
            <a:cxnLst/>
            <a:rect r="r" b="b" t="t" l="l"/>
            <a:pathLst>
              <a:path h="5475387" w="10652218">
                <a:moveTo>
                  <a:pt x="0" y="0"/>
                </a:moveTo>
                <a:lnTo>
                  <a:pt x="10652218" y="0"/>
                </a:lnTo>
                <a:lnTo>
                  <a:pt x="10652218" y="5475387"/>
                </a:lnTo>
                <a:lnTo>
                  <a:pt x="0" y="5475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255" r="-22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6217" y="531842"/>
            <a:ext cx="14825241" cy="243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 b="true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TRAZABILIDAD Y MÉTRICAS DE </a:t>
            </a:r>
            <a:r>
              <a:rPr lang="en-US" b="true" sz="6999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CALIDAD</a:t>
            </a:r>
          </a:p>
          <a:p>
            <a:pPr algn="l">
              <a:lnSpc>
                <a:spcPts val="62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36217" y="2778407"/>
            <a:ext cx="16230600" cy="91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1"/>
              </a:lnSpc>
              <a:spcBef>
                <a:spcPct val="0"/>
              </a:spcBef>
            </a:pPr>
            <a:r>
              <a:rPr lang="en-US" b="true" sz="2599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M6 = 0,00: contenido corregido al 100%. M1a = 44,26%: completitud por debajo del umbral, por plantillas distintas entre tipos de requisito, no por errores de contenido.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419169" y="331817"/>
            <a:ext cx="2450091" cy="2156080"/>
          </a:xfrm>
          <a:custGeom>
            <a:avLst/>
            <a:gdLst/>
            <a:ahLst/>
            <a:cxnLst/>
            <a:rect r="r" b="b" t="t" l="l"/>
            <a:pathLst>
              <a:path h="2156080" w="2450091">
                <a:moveTo>
                  <a:pt x="2450091" y="0"/>
                </a:moveTo>
                <a:lnTo>
                  <a:pt x="0" y="0"/>
                </a:lnTo>
                <a:lnTo>
                  <a:pt x="0" y="2156081"/>
                </a:lnTo>
                <a:lnTo>
                  <a:pt x="2450091" y="2156081"/>
                </a:lnTo>
                <a:lnTo>
                  <a:pt x="245009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6217" y="531842"/>
            <a:ext cx="14825241" cy="243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 b="true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COMPONENTES DE INTELIGEN</a:t>
            </a:r>
            <a:r>
              <a:rPr lang="en-US" b="true" sz="6999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CIA ARTIFICIAL</a:t>
            </a:r>
          </a:p>
          <a:p>
            <a:pPr algn="l">
              <a:lnSpc>
                <a:spcPts val="629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947187" y="2970465"/>
            <a:ext cx="5801651" cy="1738819"/>
            <a:chOff x="0" y="0"/>
            <a:chExt cx="7735534" cy="231842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7735534" cy="2318426"/>
              <a:chOff x="0" y="0"/>
              <a:chExt cx="1498835" cy="44921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498835" cy="449218"/>
              </a:xfrm>
              <a:custGeom>
                <a:avLst/>
                <a:gdLst/>
                <a:ahLst/>
                <a:cxnLst/>
                <a:rect r="r" b="b" t="t" l="l"/>
                <a:pathLst>
                  <a:path h="449218" w="1498835">
                    <a:moveTo>
                      <a:pt x="76104" y="0"/>
                    </a:moveTo>
                    <a:lnTo>
                      <a:pt x="1422731" y="0"/>
                    </a:lnTo>
                    <a:cubicBezTo>
                      <a:pt x="1464762" y="0"/>
                      <a:pt x="1498835" y="34073"/>
                      <a:pt x="1498835" y="76104"/>
                    </a:cubicBezTo>
                    <a:lnTo>
                      <a:pt x="1498835" y="373113"/>
                    </a:lnTo>
                    <a:cubicBezTo>
                      <a:pt x="1498835" y="415144"/>
                      <a:pt x="1464762" y="449218"/>
                      <a:pt x="1422731" y="449218"/>
                    </a:cubicBezTo>
                    <a:lnTo>
                      <a:pt x="76104" y="449218"/>
                    </a:lnTo>
                    <a:cubicBezTo>
                      <a:pt x="34073" y="449218"/>
                      <a:pt x="0" y="415144"/>
                      <a:pt x="0" y="373113"/>
                    </a:cubicBezTo>
                    <a:lnTo>
                      <a:pt x="0" y="76104"/>
                    </a:lnTo>
                    <a:cubicBezTo>
                      <a:pt x="0" y="34073"/>
                      <a:pt x="34073" y="0"/>
                      <a:pt x="76104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28575"/>
                <a:ext cx="1498835" cy="477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2383604" y="223559"/>
              <a:ext cx="2600275" cy="50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IA-01 (RF-06)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27034"/>
              <a:ext cx="7735534" cy="1003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Evalú</a:t>
              </a: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 si dos mascotas son compatibles para cruza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150528" y="5143500"/>
            <a:ext cx="5801651" cy="1738819"/>
            <a:chOff x="0" y="0"/>
            <a:chExt cx="7735534" cy="231842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7735534" cy="2318426"/>
              <a:chOff x="0" y="0"/>
              <a:chExt cx="1498835" cy="44921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498835" cy="449218"/>
              </a:xfrm>
              <a:custGeom>
                <a:avLst/>
                <a:gdLst/>
                <a:ahLst/>
                <a:cxnLst/>
                <a:rect r="r" b="b" t="t" l="l"/>
                <a:pathLst>
                  <a:path h="449218" w="1498835">
                    <a:moveTo>
                      <a:pt x="76104" y="0"/>
                    </a:moveTo>
                    <a:lnTo>
                      <a:pt x="1422731" y="0"/>
                    </a:lnTo>
                    <a:cubicBezTo>
                      <a:pt x="1464762" y="0"/>
                      <a:pt x="1498835" y="34073"/>
                      <a:pt x="1498835" y="76104"/>
                    </a:cubicBezTo>
                    <a:lnTo>
                      <a:pt x="1498835" y="373113"/>
                    </a:lnTo>
                    <a:cubicBezTo>
                      <a:pt x="1498835" y="415144"/>
                      <a:pt x="1464762" y="449218"/>
                      <a:pt x="1422731" y="449218"/>
                    </a:cubicBezTo>
                    <a:lnTo>
                      <a:pt x="76104" y="449218"/>
                    </a:lnTo>
                    <a:cubicBezTo>
                      <a:pt x="34073" y="449218"/>
                      <a:pt x="0" y="415144"/>
                      <a:pt x="0" y="373113"/>
                    </a:cubicBezTo>
                    <a:lnTo>
                      <a:pt x="0" y="76104"/>
                    </a:lnTo>
                    <a:cubicBezTo>
                      <a:pt x="0" y="34073"/>
                      <a:pt x="34073" y="0"/>
                      <a:pt x="76104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498835" cy="477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383604" y="223559"/>
              <a:ext cx="2600275" cy="50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IA-02 (RF-17)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27034"/>
              <a:ext cx="7735534" cy="1003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Valid</a:t>
              </a: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 que las imágenes de perfil sean reales y de calidad adecuada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59783" y="7192960"/>
            <a:ext cx="5801651" cy="1367307"/>
            <a:chOff x="0" y="0"/>
            <a:chExt cx="7735534" cy="182307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735534" cy="1823076"/>
              <a:chOff x="0" y="0"/>
              <a:chExt cx="1498835" cy="35323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98835" cy="353239"/>
              </a:xfrm>
              <a:custGeom>
                <a:avLst/>
                <a:gdLst/>
                <a:ahLst/>
                <a:cxnLst/>
                <a:rect r="r" b="b" t="t" l="l"/>
                <a:pathLst>
                  <a:path h="353239" w="1498835">
                    <a:moveTo>
                      <a:pt x="76104" y="0"/>
                    </a:moveTo>
                    <a:lnTo>
                      <a:pt x="1422731" y="0"/>
                    </a:lnTo>
                    <a:cubicBezTo>
                      <a:pt x="1464762" y="0"/>
                      <a:pt x="1498835" y="34073"/>
                      <a:pt x="1498835" y="76104"/>
                    </a:cubicBezTo>
                    <a:lnTo>
                      <a:pt x="1498835" y="277134"/>
                    </a:lnTo>
                    <a:cubicBezTo>
                      <a:pt x="1498835" y="319166"/>
                      <a:pt x="1464762" y="353239"/>
                      <a:pt x="1422731" y="353239"/>
                    </a:cubicBezTo>
                    <a:lnTo>
                      <a:pt x="76104" y="353239"/>
                    </a:lnTo>
                    <a:cubicBezTo>
                      <a:pt x="34073" y="353239"/>
                      <a:pt x="0" y="319166"/>
                      <a:pt x="0" y="277134"/>
                    </a:cubicBezTo>
                    <a:lnTo>
                      <a:pt x="0" y="76104"/>
                    </a:lnTo>
                    <a:cubicBezTo>
                      <a:pt x="0" y="34073"/>
                      <a:pt x="34073" y="0"/>
                      <a:pt x="76104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1498835" cy="3818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383604" y="223559"/>
              <a:ext cx="2600275" cy="50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IA-03 (RF-07)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927034"/>
              <a:ext cx="7735534" cy="50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Mod</a:t>
              </a: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eración de mensajes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-4544432">
            <a:off x="2745976" y="4443316"/>
            <a:ext cx="1412179" cy="2521748"/>
          </a:xfrm>
          <a:custGeom>
            <a:avLst/>
            <a:gdLst/>
            <a:ahLst/>
            <a:cxnLst/>
            <a:rect r="r" b="b" t="t" l="l"/>
            <a:pathLst>
              <a:path h="2521748" w="1412179">
                <a:moveTo>
                  <a:pt x="0" y="0"/>
                </a:moveTo>
                <a:lnTo>
                  <a:pt x="1412179" y="0"/>
                </a:lnTo>
                <a:lnTo>
                  <a:pt x="1412179" y="2521748"/>
                </a:lnTo>
                <a:lnTo>
                  <a:pt x="0" y="2521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4544432">
            <a:off x="7345264" y="6616351"/>
            <a:ext cx="1412179" cy="2521748"/>
          </a:xfrm>
          <a:custGeom>
            <a:avLst/>
            <a:gdLst/>
            <a:ahLst/>
            <a:cxnLst/>
            <a:rect r="r" b="b" t="t" l="l"/>
            <a:pathLst>
              <a:path h="2521748" w="1412179">
                <a:moveTo>
                  <a:pt x="0" y="0"/>
                </a:moveTo>
                <a:lnTo>
                  <a:pt x="1412179" y="0"/>
                </a:lnTo>
                <a:lnTo>
                  <a:pt x="1412179" y="2521748"/>
                </a:lnTo>
                <a:lnTo>
                  <a:pt x="0" y="2521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419169" y="331817"/>
            <a:ext cx="2450091" cy="2156080"/>
          </a:xfrm>
          <a:custGeom>
            <a:avLst/>
            <a:gdLst/>
            <a:ahLst/>
            <a:cxnLst/>
            <a:rect r="r" b="b" t="t" l="l"/>
            <a:pathLst>
              <a:path h="2156080" w="2450091">
                <a:moveTo>
                  <a:pt x="2450091" y="0"/>
                </a:moveTo>
                <a:lnTo>
                  <a:pt x="0" y="0"/>
                </a:lnTo>
                <a:lnTo>
                  <a:pt x="0" y="2156081"/>
                </a:lnTo>
                <a:lnTo>
                  <a:pt x="2450091" y="2156081"/>
                </a:lnTo>
                <a:lnTo>
                  <a:pt x="245009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6217" y="531842"/>
            <a:ext cx="14825241" cy="857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 b="true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LECCIONES</a:t>
            </a:r>
            <a:r>
              <a:rPr lang="en-US" b="true" sz="6999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APRENDIDAS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4766" y="1907433"/>
            <a:ext cx="10302627" cy="5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La inspección formal tiene alcance por diseño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4766" y="4629187"/>
            <a:ext cx="10377227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  <a:r>
              <a:rPr lang="en-US" b="true" sz="3000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Los huecos estructurales solo aparecen al re-auditar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4766" y="7288306"/>
            <a:ext cx="9377660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  <a:r>
              <a:rPr lang="en-US" b="true" sz="3000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Ni la propia revisión de trazabilidad es infalible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4766" y="2717708"/>
            <a:ext cx="15541194" cy="1230406"/>
            <a:chOff x="0" y="0"/>
            <a:chExt cx="20721592" cy="164054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721592" cy="1640541"/>
              <a:chOff x="0" y="0"/>
              <a:chExt cx="4015010" cy="31787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015010" cy="317871"/>
              </a:xfrm>
              <a:custGeom>
                <a:avLst/>
                <a:gdLst/>
                <a:ahLst/>
                <a:cxnLst/>
                <a:rect r="r" b="b" t="t" l="l"/>
                <a:pathLst>
                  <a:path h="317871" w="4015010">
                    <a:moveTo>
                      <a:pt x="28410" y="0"/>
                    </a:moveTo>
                    <a:lnTo>
                      <a:pt x="3986600" y="0"/>
                    </a:lnTo>
                    <a:cubicBezTo>
                      <a:pt x="3994134" y="0"/>
                      <a:pt x="4001361" y="2993"/>
                      <a:pt x="4006689" y="8321"/>
                    </a:cubicBezTo>
                    <a:cubicBezTo>
                      <a:pt x="4012017" y="13649"/>
                      <a:pt x="4015010" y="20875"/>
                      <a:pt x="4015010" y="28410"/>
                    </a:cubicBezTo>
                    <a:lnTo>
                      <a:pt x="4015010" y="289460"/>
                    </a:lnTo>
                    <a:cubicBezTo>
                      <a:pt x="4015010" y="296995"/>
                      <a:pt x="4012017" y="304222"/>
                      <a:pt x="4006689" y="309550"/>
                    </a:cubicBezTo>
                    <a:cubicBezTo>
                      <a:pt x="4001361" y="314878"/>
                      <a:pt x="3994134" y="317871"/>
                      <a:pt x="3986600" y="317871"/>
                    </a:cubicBezTo>
                    <a:lnTo>
                      <a:pt x="28410" y="317871"/>
                    </a:lnTo>
                    <a:cubicBezTo>
                      <a:pt x="20875" y="317871"/>
                      <a:pt x="13649" y="314878"/>
                      <a:pt x="8321" y="309550"/>
                    </a:cubicBezTo>
                    <a:cubicBezTo>
                      <a:pt x="2993" y="304222"/>
                      <a:pt x="0" y="296995"/>
                      <a:pt x="0" y="289460"/>
                    </a:cubicBezTo>
                    <a:lnTo>
                      <a:pt x="0" y="28410"/>
                    </a:lnTo>
                    <a:cubicBezTo>
                      <a:pt x="0" y="20875"/>
                      <a:pt x="2993" y="13649"/>
                      <a:pt x="8321" y="8321"/>
                    </a:cubicBezTo>
                    <a:cubicBezTo>
                      <a:pt x="13649" y="2993"/>
                      <a:pt x="20875" y="0"/>
                      <a:pt x="28410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4015010" cy="3464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6385088" y="223559"/>
              <a:ext cx="6965498" cy="50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477584"/>
              <a:ext cx="20721592" cy="50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</a:t>
              </a: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uando revisamos el ERS en la PE4, solo miramos los requisitos escritos — nunca los diagramas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36217" y="5372100"/>
            <a:ext cx="15541194" cy="1601918"/>
            <a:chOff x="0" y="0"/>
            <a:chExt cx="20721592" cy="213589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0721592" cy="2135891"/>
              <a:chOff x="0" y="0"/>
              <a:chExt cx="4015010" cy="41385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015010" cy="413850"/>
              </a:xfrm>
              <a:custGeom>
                <a:avLst/>
                <a:gdLst/>
                <a:ahLst/>
                <a:cxnLst/>
                <a:rect r="r" b="b" t="t" l="l"/>
                <a:pathLst>
                  <a:path h="413850" w="4015010">
                    <a:moveTo>
                      <a:pt x="28410" y="0"/>
                    </a:moveTo>
                    <a:lnTo>
                      <a:pt x="3986600" y="0"/>
                    </a:lnTo>
                    <a:cubicBezTo>
                      <a:pt x="3994134" y="0"/>
                      <a:pt x="4001361" y="2993"/>
                      <a:pt x="4006689" y="8321"/>
                    </a:cubicBezTo>
                    <a:cubicBezTo>
                      <a:pt x="4012017" y="13649"/>
                      <a:pt x="4015010" y="20875"/>
                      <a:pt x="4015010" y="28410"/>
                    </a:cubicBezTo>
                    <a:lnTo>
                      <a:pt x="4015010" y="385439"/>
                    </a:lnTo>
                    <a:cubicBezTo>
                      <a:pt x="4015010" y="392974"/>
                      <a:pt x="4012017" y="400200"/>
                      <a:pt x="4006689" y="405528"/>
                    </a:cubicBezTo>
                    <a:cubicBezTo>
                      <a:pt x="4001361" y="410856"/>
                      <a:pt x="3994134" y="413850"/>
                      <a:pt x="3986600" y="413850"/>
                    </a:cubicBezTo>
                    <a:lnTo>
                      <a:pt x="28410" y="413850"/>
                    </a:lnTo>
                    <a:cubicBezTo>
                      <a:pt x="20875" y="413850"/>
                      <a:pt x="13649" y="410856"/>
                      <a:pt x="8321" y="405528"/>
                    </a:cubicBezTo>
                    <a:cubicBezTo>
                      <a:pt x="2993" y="400200"/>
                      <a:pt x="0" y="392974"/>
                      <a:pt x="0" y="385439"/>
                    </a:cubicBezTo>
                    <a:lnTo>
                      <a:pt x="0" y="28410"/>
                    </a:lnTo>
                    <a:cubicBezTo>
                      <a:pt x="0" y="20875"/>
                      <a:pt x="2993" y="13649"/>
                      <a:pt x="8321" y="8321"/>
                    </a:cubicBezTo>
                    <a:cubicBezTo>
                      <a:pt x="13649" y="2993"/>
                      <a:pt x="20875" y="0"/>
                      <a:pt x="28410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4015010" cy="442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6385088" y="223559"/>
              <a:ext cx="6965498" cy="50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477584"/>
              <a:ext cx="20721592" cy="1003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Faltaba</a:t>
              </a: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n cosas por completo, no eran errores de redacción — y nadie lo notó hasta revisar todo de nuevo en la PE5.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36217" y="8174094"/>
            <a:ext cx="15541194" cy="1601918"/>
            <a:chOff x="0" y="0"/>
            <a:chExt cx="20721592" cy="213589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20721592" cy="2135891"/>
              <a:chOff x="0" y="0"/>
              <a:chExt cx="4015010" cy="41385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015010" cy="413850"/>
              </a:xfrm>
              <a:custGeom>
                <a:avLst/>
                <a:gdLst/>
                <a:ahLst/>
                <a:cxnLst/>
                <a:rect r="r" b="b" t="t" l="l"/>
                <a:pathLst>
                  <a:path h="413850" w="4015010">
                    <a:moveTo>
                      <a:pt x="28410" y="0"/>
                    </a:moveTo>
                    <a:lnTo>
                      <a:pt x="3986600" y="0"/>
                    </a:lnTo>
                    <a:cubicBezTo>
                      <a:pt x="3994134" y="0"/>
                      <a:pt x="4001361" y="2993"/>
                      <a:pt x="4006689" y="8321"/>
                    </a:cubicBezTo>
                    <a:cubicBezTo>
                      <a:pt x="4012017" y="13649"/>
                      <a:pt x="4015010" y="20875"/>
                      <a:pt x="4015010" y="28410"/>
                    </a:cubicBezTo>
                    <a:lnTo>
                      <a:pt x="4015010" y="385439"/>
                    </a:lnTo>
                    <a:cubicBezTo>
                      <a:pt x="4015010" y="392974"/>
                      <a:pt x="4012017" y="400200"/>
                      <a:pt x="4006689" y="405528"/>
                    </a:cubicBezTo>
                    <a:cubicBezTo>
                      <a:pt x="4001361" y="410856"/>
                      <a:pt x="3994134" y="413850"/>
                      <a:pt x="3986600" y="413850"/>
                    </a:cubicBezTo>
                    <a:lnTo>
                      <a:pt x="28410" y="413850"/>
                    </a:lnTo>
                    <a:cubicBezTo>
                      <a:pt x="20875" y="413850"/>
                      <a:pt x="13649" y="410856"/>
                      <a:pt x="8321" y="405528"/>
                    </a:cubicBezTo>
                    <a:cubicBezTo>
                      <a:pt x="2993" y="400200"/>
                      <a:pt x="0" y="392974"/>
                      <a:pt x="0" y="385439"/>
                    </a:cubicBezTo>
                    <a:lnTo>
                      <a:pt x="0" y="28410"/>
                    </a:lnTo>
                    <a:cubicBezTo>
                      <a:pt x="0" y="20875"/>
                      <a:pt x="2993" y="13649"/>
                      <a:pt x="8321" y="8321"/>
                    </a:cubicBezTo>
                    <a:cubicBezTo>
                      <a:pt x="13649" y="2993"/>
                      <a:pt x="20875" y="0"/>
                      <a:pt x="28410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4015010" cy="442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385088" y="223559"/>
              <a:ext cx="6965498" cy="50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477584"/>
              <a:ext cx="20721592" cy="1003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</a:t>
              </a: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no de los problemas de trazabilidad ni siquiera apareció en la primera revisión — salió recién cuando ya se estaba corrigiendo lo demás.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419169" y="331817"/>
            <a:ext cx="2450091" cy="2156080"/>
          </a:xfrm>
          <a:custGeom>
            <a:avLst/>
            <a:gdLst/>
            <a:ahLst/>
            <a:cxnLst/>
            <a:rect r="r" b="b" t="t" l="l"/>
            <a:pathLst>
              <a:path h="2156080" w="2450091">
                <a:moveTo>
                  <a:pt x="2450091" y="0"/>
                </a:moveTo>
                <a:lnTo>
                  <a:pt x="0" y="0"/>
                </a:lnTo>
                <a:lnTo>
                  <a:pt x="0" y="2156081"/>
                </a:lnTo>
                <a:lnTo>
                  <a:pt x="2450091" y="2156081"/>
                </a:lnTo>
                <a:lnTo>
                  <a:pt x="245009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6217" y="531842"/>
            <a:ext cx="14825241" cy="857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 b="true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CONCLUSIONES</a:t>
            </a:r>
            <a:r>
              <a:rPr lang="en-US" b="true" sz="6999">
                <a:solidFill>
                  <a:srgbClr val="5C31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INTEGRADORAS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15076" y="1875256"/>
            <a:ext cx="4974371" cy="1172338"/>
            <a:chOff x="0" y="0"/>
            <a:chExt cx="6632495" cy="156311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32495" cy="1563117"/>
              <a:chOff x="0" y="0"/>
              <a:chExt cx="1498835" cy="35323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498835" cy="353239"/>
              </a:xfrm>
              <a:custGeom>
                <a:avLst/>
                <a:gdLst/>
                <a:ahLst/>
                <a:cxnLst/>
                <a:rect r="r" b="b" t="t" l="l"/>
                <a:pathLst>
                  <a:path h="353239" w="1498835">
                    <a:moveTo>
                      <a:pt x="88761" y="0"/>
                    </a:moveTo>
                    <a:lnTo>
                      <a:pt x="1410074" y="0"/>
                    </a:lnTo>
                    <a:cubicBezTo>
                      <a:pt x="1459095" y="0"/>
                      <a:pt x="1498835" y="39740"/>
                      <a:pt x="1498835" y="88761"/>
                    </a:cubicBezTo>
                    <a:lnTo>
                      <a:pt x="1498835" y="264478"/>
                    </a:lnTo>
                    <a:cubicBezTo>
                      <a:pt x="1498835" y="288018"/>
                      <a:pt x="1489483" y="310595"/>
                      <a:pt x="1472837" y="327241"/>
                    </a:cubicBezTo>
                    <a:cubicBezTo>
                      <a:pt x="1456191" y="343887"/>
                      <a:pt x="1433615" y="353239"/>
                      <a:pt x="1410074" y="353239"/>
                    </a:cubicBezTo>
                    <a:lnTo>
                      <a:pt x="88761" y="353239"/>
                    </a:lnTo>
                    <a:cubicBezTo>
                      <a:pt x="39740" y="353239"/>
                      <a:pt x="0" y="313499"/>
                      <a:pt x="0" y="264478"/>
                    </a:cubicBezTo>
                    <a:lnTo>
                      <a:pt x="0" y="88761"/>
                    </a:lnTo>
                    <a:cubicBezTo>
                      <a:pt x="0" y="39740"/>
                      <a:pt x="39740" y="0"/>
                      <a:pt x="88761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28575"/>
                <a:ext cx="1498835" cy="3818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351161" y="279859"/>
              <a:ext cx="3930173" cy="1003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Fundamentos y elicitación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01800" y="3259767"/>
            <a:ext cx="4974371" cy="1172338"/>
            <a:chOff x="0" y="0"/>
            <a:chExt cx="6632495" cy="156311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632495" cy="1563117"/>
              <a:chOff x="0" y="0"/>
              <a:chExt cx="1498835" cy="35323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498835" cy="353239"/>
              </a:xfrm>
              <a:custGeom>
                <a:avLst/>
                <a:gdLst/>
                <a:ahLst/>
                <a:cxnLst/>
                <a:rect r="r" b="b" t="t" l="l"/>
                <a:pathLst>
                  <a:path h="353239" w="1498835">
                    <a:moveTo>
                      <a:pt x="88761" y="0"/>
                    </a:moveTo>
                    <a:lnTo>
                      <a:pt x="1410074" y="0"/>
                    </a:lnTo>
                    <a:cubicBezTo>
                      <a:pt x="1459095" y="0"/>
                      <a:pt x="1498835" y="39740"/>
                      <a:pt x="1498835" y="88761"/>
                    </a:cubicBezTo>
                    <a:lnTo>
                      <a:pt x="1498835" y="264478"/>
                    </a:lnTo>
                    <a:cubicBezTo>
                      <a:pt x="1498835" y="288018"/>
                      <a:pt x="1489483" y="310595"/>
                      <a:pt x="1472837" y="327241"/>
                    </a:cubicBezTo>
                    <a:cubicBezTo>
                      <a:pt x="1456191" y="343887"/>
                      <a:pt x="1433615" y="353239"/>
                      <a:pt x="1410074" y="353239"/>
                    </a:cubicBezTo>
                    <a:lnTo>
                      <a:pt x="88761" y="353239"/>
                    </a:lnTo>
                    <a:cubicBezTo>
                      <a:pt x="39740" y="353239"/>
                      <a:pt x="0" y="313499"/>
                      <a:pt x="0" y="264478"/>
                    </a:cubicBezTo>
                    <a:lnTo>
                      <a:pt x="0" y="88761"/>
                    </a:lnTo>
                    <a:cubicBezTo>
                      <a:pt x="0" y="39740"/>
                      <a:pt x="39740" y="0"/>
                      <a:pt x="88761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1498835" cy="3818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351161" y="279859"/>
              <a:ext cx="3930173" cy="1003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Especificación del ERS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408445" y="4641654"/>
            <a:ext cx="5131330" cy="1209329"/>
            <a:chOff x="0" y="0"/>
            <a:chExt cx="6841774" cy="161243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841774" cy="1612439"/>
              <a:chOff x="0" y="0"/>
              <a:chExt cx="1498835" cy="35323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98835" cy="353239"/>
              </a:xfrm>
              <a:custGeom>
                <a:avLst/>
                <a:gdLst/>
                <a:ahLst/>
                <a:cxnLst/>
                <a:rect r="r" b="b" t="t" l="l"/>
                <a:pathLst>
                  <a:path h="353239" w="1498835">
                    <a:moveTo>
                      <a:pt x="88761" y="0"/>
                    </a:moveTo>
                    <a:lnTo>
                      <a:pt x="1410074" y="0"/>
                    </a:lnTo>
                    <a:cubicBezTo>
                      <a:pt x="1459095" y="0"/>
                      <a:pt x="1498835" y="39740"/>
                      <a:pt x="1498835" y="88761"/>
                    </a:cubicBezTo>
                    <a:lnTo>
                      <a:pt x="1498835" y="264478"/>
                    </a:lnTo>
                    <a:cubicBezTo>
                      <a:pt x="1498835" y="288018"/>
                      <a:pt x="1489483" y="310595"/>
                      <a:pt x="1472837" y="327241"/>
                    </a:cubicBezTo>
                    <a:cubicBezTo>
                      <a:pt x="1456191" y="343887"/>
                      <a:pt x="1433615" y="353239"/>
                      <a:pt x="1410074" y="353239"/>
                    </a:cubicBezTo>
                    <a:lnTo>
                      <a:pt x="88761" y="353239"/>
                    </a:lnTo>
                    <a:cubicBezTo>
                      <a:pt x="39740" y="353239"/>
                      <a:pt x="0" y="313499"/>
                      <a:pt x="0" y="264478"/>
                    </a:cubicBezTo>
                    <a:lnTo>
                      <a:pt x="0" y="88761"/>
                    </a:lnTo>
                    <a:cubicBezTo>
                      <a:pt x="0" y="39740"/>
                      <a:pt x="39740" y="0"/>
                      <a:pt x="88761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1498835" cy="3818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393795" y="288689"/>
              <a:ext cx="4054184" cy="1035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17"/>
                </a:lnSpc>
                <a:spcBef>
                  <a:spcPct val="0"/>
                </a:spcBef>
              </a:pPr>
              <a:r>
                <a:rPr lang="en-US" b="true" sz="257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Modelado UML y trazabilidad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343138" y="6163067"/>
            <a:ext cx="5246881" cy="1428824"/>
            <a:chOff x="0" y="0"/>
            <a:chExt cx="6995841" cy="190509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995841" cy="1905099"/>
              <a:chOff x="0" y="0"/>
              <a:chExt cx="1708218" cy="4651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708218" cy="465180"/>
              </a:xfrm>
              <a:custGeom>
                <a:avLst/>
                <a:gdLst/>
                <a:ahLst/>
                <a:cxnLst/>
                <a:rect r="r" b="b" t="t" l="l"/>
                <a:pathLst>
                  <a:path h="465180" w="1708218">
                    <a:moveTo>
                      <a:pt x="84151" y="0"/>
                    </a:moveTo>
                    <a:lnTo>
                      <a:pt x="1624066" y="0"/>
                    </a:lnTo>
                    <a:cubicBezTo>
                      <a:pt x="1646385" y="0"/>
                      <a:pt x="1667789" y="8866"/>
                      <a:pt x="1683570" y="24647"/>
                    </a:cubicBezTo>
                    <a:cubicBezTo>
                      <a:pt x="1699352" y="40429"/>
                      <a:pt x="1708218" y="61833"/>
                      <a:pt x="1708218" y="84151"/>
                    </a:cubicBezTo>
                    <a:lnTo>
                      <a:pt x="1708218" y="381028"/>
                    </a:lnTo>
                    <a:cubicBezTo>
                      <a:pt x="1708218" y="403347"/>
                      <a:pt x="1699352" y="424751"/>
                      <a:pt x="1683570" y="440532"/>
                    </a:cubicBezTo>
                    <a:cubicBezTo>
                      <a:pt x="1667789" y="456314"/>
                      <a:pt x="1646385" y="465180"/>
                      <a:pt x="1624066" y="465180"/>
                    </a:cubicBezTo>
                    <a:lnTo>
                      <a:pt x="84151" y="465180"/>
                    </a:lnTo>
                    <a:cubicBezTo>
                      <a:pt x="61833" y="465180"/>
                      <a:pt x="40429" y="456314"/>
                      <a:pt x="24647" y="440532"/>
                    </a:cubicBezTo>
                    <a:cubicBezTo>
                      <a:pt x="8866" y="424751"/>
                      <a:pt x="0" y="403347"/>
                      <a:pt x="0" y="381028"/>
                    </a:cubicBezTo>
                    <a:lnTo>
                      <a:pt x="0" y="84151"/>
                    </a:lnTo>
                    <a:cubicBezTo>
                      <a:pt x="0" y="61833"/>
                      <a:pt x="8866" y="40429"/>
                      <a:pt x="24647" y="24647"/>
                    </a:cubicBezTo>
                    <a:cubicBezTo>
                      <a:pt x="40429" y="8866"/>
                      <a:pt x="61833" y="0"/>
                      <a:pt x="84151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1708218" cy="493755"/>
              </a:xfrm>
              <a:prstGeom prst="rect">
                <a:avLst/>
              </a:prstGeom>
            </p:spPr>
            <p:txBody>
              <a:bodyPr anchor="ctr" rtlCol="false" tIns="50040" lIns="50040" bIns="50040" rIns="5004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751923" y="534228"/>
              <a:ext cx="5878138" cy="960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44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Validación y gestión de cambios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023586" y="7893365"/>
            <a:ext cx="5486657" cy="1154796"/>
            <a:chOff x="0" y="0"/>
            <a:chExt cx="7315543" cy="1539727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7315543" cy="1539727"/>
              <a:chOff x="0" y="0"/>
              <a:chExt cx="1678306" cy="35323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678306" cy="353239"/>
              </a:xfrm>
              <a:custGeom>
                <a:avLst/>
                <a:gdLst/>
                <a:ahLst/>
                <a:cxnLst/>
                <a:rect r="r" b="b" t="t" l="l"/>
                <a:pathLst>
                  <a:path h="353239" w="1678306">
                    <a:moveTo>
                      <a:pt x="79269" y="0"/>
                    </a:moveTo>
                    <a:lnTo>
                      <a:pt x="1599036" y="0"/>
                    </a:lnTo>
                    <a:cubicBezTo>
                      <a:pt x="1642816" y="0"/>
                      <a:pt x="1678306" y="35490"/>
                      <a:pt x="1678306" y="79269"/>
                    </a:cubicBezTo>
                    <a:lnTo>
                      <a:pt x="1678306" y="273969"/>
                    </a:lnTo>
                    <a:cubicBezTo>
                      <a:pt x="1678306" y="294993"/>
                      <a:pt x="1669954" y="315155"/>
                      <a:pt x="1655088" y="330021"/>
                    </a:cubicBezTo>
                    <a:cubicBezTo>
                      <a:pt x="1640222" y="344887"/>
                      <a:pt x="1620060" y="353239"/>
                      <a:pt x="1599036" y="353239"/>
                    </a:cubicBezTo>
                    <a:lnTo>
                      <a:pt x="79269" y="353239"/>
                    </a:lnTo>
                    <a:cubicBezTo>
                      <a:pt x="35490" y="353239"/>
                      <a:pt x="0" y="317749"/>
                      <a:pt x="0" y="273969"/>
                    </a:cubicBezTo>
                    <a:lnTo>
                      <a:pt x="0" y="79269"/>
                    </a:lnTo>
                    <a:cubicBezTo>
                      <a:pt x="0" y="35490"/>
                      <a:pt x="35490" y="0"/>
                      <a:pt x="79269" y="0"/>
                    </a:cubicBezTo>
                    <a:close/>
                  </a:path>
                </a:pathLst>
              </a:custGeom>
              <a:solidFill>
                <a:srgbClr val="A75E31"/>
              </a:solidFill>
              <a:ln w="133350" cap="rnd">
                <a:solidFill>
                  <a:srgbClr val="7D4506"/>
                </a:soli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28575"/>
                <a:ext cx="1678306" cy="3818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745155" y="538690"/>
              <a:ext cx="5825232" cy="481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1"/>
                </a:lnSpc>
                <a:spcBef>
                  <a:spcPct val="0"/>
                </a:spcBef>
              </a:pPr>
              <a:r>
                <a:rPr lang="en-US" b="true" sz="2462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Integración, métricas e IA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828006"/>
            <a:ext cx="3575243" cy="3146214"/>
          </a:xfrm>
          <a:custGeom>
            <a:avLst/>
            <a:gdLst/>
            <a:ahLst/>
            <a:cxnLst/>
            <a:rect r="r" b="b" t="t" l="l"/>
            <a:pathLst>
              <a:path h="3146214" w="3575243">
                <a:moveTo>
                  <a:pt x="0" y="0"/>
                </a:moveTo>
                <a:lnTo>
                  <a:pt x="3575243" y="0"/>
                </a:lnTo>
                <a:lnTo>
                  <a:pt x="3575243" y="3146214"/>
                </a:lnTo>
                <a:lnTo>
                  <a:pt x="0" y="3146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751839" y="5264119"/>
            <a:ext cx="3575243" cy="3146214"/>
          </a:xfrm>
          <a:custGeom>
            <a:avLst/>
            <a:gdLst/>
            <a:ahLst/>
            <a:cxnLst/>
            <a:rect r="r" b="b" t="t" l="l"/>
            <a:pathLst>
              <a:path h="3146214" w="3575243">
                <a:moveTo>
                  <a:pt x="3575244" y="0"/>
                </a:moveTo>
                <a:lnTo>
                  <a:pt x="0" y="0"/>
                </a:lnTo>
                <a:lnTo>
                  <a:pt x="0" y="3146214"/>
                </a:lnTo>
                <a:lnTo>
                  <a:pt x="3575244" y="3146214"/>
                </a:lnTo>
                <a:lnTo>
                  <a:pt x="35752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77107" y="4348074"/>
            <a:ext cx="15133787" cy="1642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4"/>
              </a:lnSpc>
            </a:pPr>
            <a:r>
              <a:rPr lang="en-US" sz="13226">
                <a:solidFill>
                  <a:srgbClr val="5C3100"/>
                </a:solidFill>
                <a:latin typeface="Happy Font TH"/>
                <a:ea typeface="Happy Font TH"/>
                <a:cs typeface="Happy Font TH"/>
                <a:sym typeface="Happy Font TH"/>
              </a:rPr>
              <a:t>GRACIAS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46692" y="465243"/>
            <a:ext cx="3575243" cy="3146214"/>
          </a:xfrm>
          <a:custGeom>
            <a:avLst/>
            <a:gdLst/>
            <a:ahLst/>
            <a:cxnLst/>
            <a:rect r="r" b="b" t="t" l="l"/>
            <a:pathLst>
              <a:path h="3146214" w="3575243">
                <a:moveTo>
                  <a:pt x="0" y="0"/>
                </a:moveTo>
                <a:lnTo>
                  <a:pt x="3575243" y="0"/>
                </a:lnTo>
                <a:lnTo>
                  <a:pt x="3575243" y="3146214"/>
                </a:lnTo>
                <a:lnTo>
                  <a:pt x="0" y="3146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64861" y="406571"/>
            <a:ext cx="3575243" cy="3146214"/>
          </a:xfrm>
          <a:custGeom>
            <a:avLst/>
            <a:gdLst/>
            <a:ahLst/>
            <a:cxnLst/>
            <a:rect r="r" b="b" t="t" l="l"/>
            <a:pathLst>
              <a:path h="3146214" w="3575243">
                <a:moveTo>
                  <a:pt x="0" y="0"/>
                </a:moveTo>
                <a:lnTo>
                  <a:pt x="3575243" y="0"/>
                </a:lnTo>
                <a:lnTo>
                  <a:pt x="3575243" y="3146214"/>
                </a:lnTo>
                <a:lnTo>
                  <a:pt x="0" y="3146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DAHTKZJ9rgc</dc:identifier>
  <dcterms:modified xsi:type="dcterms:W3CDTF">2011-08-01T06:04:30Z</dcterms:modified>
  <cp:revision>1</cp:revision>
  <dc:title>MundiPets </dc:title>
</cp:coreProperties>
</file>